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460742-81ED-4E24-8151-6966255B0BC8}" v="156" dt="2025-11-19T07:43:55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7B61-8EBA-B8F5-65CB-7B741C3F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9BB18-B0B2-B1ED-F16F-FE47B93B3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217EB-EA3E-F01C-F33E-6B74F09C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7852F-DE67-5C1F-1C9A-96FC16637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A6507-805E-BA0C-166B-FBBFDD01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close up of a chip&#10;&#10;AI-generated content may be incorrect.">
            <a:extLst>
              <a:ext uri="{FF2B5EF4-FFF2-40B4-BE49-F238E27FC236}">
                <a16:creationId xmlns:a16="http://schemas.microsoft.com/office/drawing/2014/main" id="{0809DA62-0FC2-2D5B-8EA3-75C9408B1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4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B115-4BB0-CFF4-CDF6-DBE3C030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99EE-2CC6-5B7A-7276-F104DCE39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D3A8D-D460-C48D-6846-D3A8F005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E11E7-1E8D-EA48-6983-07A46F76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7BC44-5E8B-BEF7-8184-3E7EF77F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40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2600-8DB8-F3A6-38E0-5AD401CD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59BD7-1750-B953-145D-621CE7F90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E0BC5-82F3-6371-155D-2AA66AF8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6F269-6355-001D-1F8A-CB8ECA8A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97AA-BF51-3977-B1A1-D805D23A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997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523D0-1739-DAF8-7B00-103676F5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863B1-C964-A634-8D5E-177C4C6EB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0EF66-7ADF-48F3-ED82-0A9CEFD8D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DC412-D0BE-CD6D-330D-AE88CE90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F1B18-8F90-8630-002C-E762363C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8D919-7471-E678-C90A-ABA83703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1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1350-FFA7-CF62-8A25-8BDB0902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FE0D9-8029-4E5D-AAFB-7C158775C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41D26-1894-0780-236F-6227DE1F4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4F002-DB8A-B347-548B-B683C6F56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A9E9F-A1A6-E98F-F8D0-551C78964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6C9E1-6DCE-39D0-397F-D31636FE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347C1A-80C3-AE25-E755-2A2AC137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C91A-917E-4803-8FDC-B335D176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45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81BF-1ECE-3F3F-AF0B-1F9A1FBE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97677-C935-85B8-491C-BD489C74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89039-8A13-C1B4-5D1C-30ED3889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EF6F6-6A99-F241-BBAC-66A7DC3D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89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D113E-70DB-F353-AB31-8D3B0182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2B2C6-1AA3-FC1E-ED4D-F7E085B4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92464-7681-2EBF-47BC-538151C3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2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2C3CC-6A2D-81BB-FD8D-35F58D8B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64C50-D50A-B70D-9C5E-24D33F33B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23521-DFDB-6111-8A55-C9ECAE243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C42B1-FEAB-E27B-BCFD-DD3CE8263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24778-122B-6E6C-AE42-7CA9F2E9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7BE3A-F67A-2854-5F9C-24DF4E12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21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058D-590C-3B02-2957-088B0C00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64EB3-5AD5-945E-2100-D795A6AB2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05DA0-2463-440B-B972-D2036B71F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37AC5-FC5E-76E2-DD79-94AD52BA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93C54-EC77-431D-B7AA-12EE71B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E5B48-DF59-C4A3-7003-271D1B5E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4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45DD3-F24D-D7ED-70E4-772A6DBC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008B9-7464-2D8D-C643-2F435B2E4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CDA97-F5BC-C405-40E1-855C0EB7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36026-6825-46EA-D306-AAC9A062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D7A82-041D-3848-7149-1171A482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16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39A4-79A9-5289-B462-53F147868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137D8-347C-F9E6-D050-95DDC3B1F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3172-6461-1D4C-85C7-651A0C7C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F8292-9C8A-F77B-D16C-BA14FBCC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CAF3D-9E78-7485-627F-DB4A0ED7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9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174B3F-77B5-C769-055C-2CE022E3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11E9D-D71B-B188-F894-9FC7FE20F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B2ACC-3084-89C2-3905-EFDE2EF49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9FF69-A542-4F87-8403-5928A80E65D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400E3-38CC-0B9E-C252-5E187B4DB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9D0D-26A0-E123-22AE-FC0BF4143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6A0D1-0E71-45EE-9384-9FF0E7206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21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7B3EB7-3A0E-3338-AE5B-8700DD3B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345921-0BF6-DB72-0AD6-84DF09503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632" y="1401097"/>
            <a:ext cx="10516736" cy="4773075"/>
          </a:xfrm>
        </p:spPr>
        <p:txBody>
          <a:bodyPr>
            <a:normAutofit/>
          </a:bodyPr>
          <a:lstStyle/>
          <a:p>
            <a:pPr algn="l" fontAlgn="base"/>
            <a:endParaRPr lang="en-US" sz="300" dirty="0"/>
          </a:p>
          <a:p>
            <a:endParaRPr lang="en-IN" sz="3000" b="1" u="sng" dirty="0"/>
          </a:p>
          <a:p>
            <a:r>
              <a:rPr lang="en-IN" sz="3000" b="1" u="sng" dirty="0"/>
              <a:t>Start up Name - </a:t>
            </a:r>
            <a:r>
              <a:rPr lang="en-US" dirty="0" err="1"/>
              <a:t>GuardianDrive</a:t>
            </a:r>
            <a:r>
              <a:rPr lang="en-US" dirty="0"/>
              <a:t> AI</a:t>
            </a:r>
            <a:br>
              <a:rPr lang="en-US" sz="3200" dirty="0"/>
            </a:br>
            <a:r>
              <a:rPr lang="en-US" sz="2000" b="1" dirty="0"/>
              <a:t>Tagline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i="1" dirty="0"/>
              <a:t>Predicting Safety, Preventing Tragedy.</a:t>
            </a:r>
            <a:endParaRPr lang="en-IN" sz="3000" b="1" u="sng" dirty="0"/>
          </a:p>
          <a:p>
            <a:endParaRPr lang="en-IN" sz="3000" b="1" u="sng" dirty="0"/>
          </a:p>
          <a:p>
            <a:r>
              <a:rPr lang="en-IN" sz="3000" b="1" u="sng" dirty="0"/>
              <a:t>Name :- Siddhant Satish Dhivare </a:t>
            </a:r>
          </a:p>
          <a:p>
            <a:r>
              <a:rPr lang="en-IN" sz="3000" b="1" u="sng" dirty="0"/>
              <a:t>Contact no. +91 9158793589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AC4F40-334A-07D2-07A4-EDFF0D070937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5" name="Picture 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D90919DA-F540-6874-1E32-9F2381D6E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6" name="Picture 5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9248A2AC-A5A5-765E-9226-DA6EA2CD3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778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E80796-D5A0-2CBA-7D18-6F1FD0E10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35B430-D931-19C9-9297-92B9F1D0F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631" y="1527845"/>
            <a:ext cx="10516736" cy="4773075"/>
          </a:xfrm>
        </p:spPr>
        <p:txBody>
          <a:bodyPr>
            <a:normAutofit fontScale="92500" lnSpcReduction="10000"/>
          </a:bodyPr>
          <a:lstStyle/>
          <a:p>
            <a:pPr algn="l" fontAlgn="base"/>
            <a:r>
              <a:rPr lang="en-US" sz="3200" b="1" u="sng" dirty="0"/>
              <a:t>Problem Statement</a:t>
            </a:r>
            <a:br>
              <a:rPr lang="en-US" dirty="0"/>
            </a:br>
            <a:r>
              <a:rPr lang="en-US" dirty="0"/>
              <a:t>Every year in India, over </a:t>
            </a:r>
            <a:r>
              <a:rPr lang="en-US" b="1" dirty="0"/>
              <a:t>150,000 people die</a:t>
            </a:r>
            <a:r>
              <a:rPr lang="en-US" dirty="0"/>
              <a:t> in road accidents. A significant percentage is due to </a:t>
            </a:r>
            <a:r>
              <a:rPr lang="en-US" b="1" dirty="0"/>
              <a:t>driver drowsiness (40%+ of commercial vehicle crashes) and impairment</a:t>
            </a:r>
            <a:r>
              <a:rPr lang="en-US" dirty="0"/>
              <a:t>. Current solutions are reactive, isolated, and lack ecosystem integration.</a:t>
            </a:r>
          </a:p>
          <a:p>
            <a:r>
              <a:rPr lang="en-US" b="1" dirty="0"/>
              <a:t>Why is this problem important?</a:t>
            </a:r>
            <a:br>
              <a:rPr lang="en-US" dirty="0"/>
            </a:br>
            <a:r>
              <a:rPr lang="en-US" dirty="0"/>
              <a:t>It's a national health and economic crisis causing untold grief, straining emergency services, and costing the economy an estimated </a:t>
            </a:r>
            <a:r>
              <a:rPr lang="en-US" b="1" dirty="0"/>
              <a:t>3% of GDP</a:t>
            </a:r>
            <a:r>
              <a:rPr lang="en-US" dirty="0"/>
              <a:t>. Families feel helpless, police are reactive, and ambulances are often deployed inefficiently.</a:t>
            </a:r>
          </a:p>
          <a:p>
            <a:r>
              <a:rPr lang="en-US" b="1" dirty="0"/>
              <a:t>Real-life pain points:</a:t>
            </a:r>
            <a:endParaRPr lang="en-US" dirty="0"/>
          </a:p>
          <a:p>
            <a:r>
              <a:rPr lang="en-US" b="1" dirty="0"/>
              <a:t>Family:</a:t>
            </a:r>
            <a:r>
              <a:rPr lang="en-US" dirty="0"/>
              <a:t> "I worry every time my father drives back from his night shift."</a:t>
            </a:r>
          </a:p>
          <a:p>
            <a:r>
              <a:rPr lang="en-US" b="1" dirty="0"/>
              <a:t>Police:</a:t>
            </a:r>
            <a:r>
              <a:rPr lang="en-US" dirty="0"/>
              <a:t> "We only get to the scene after the crash. We have no way to prevent it."</a:t>
            </a:r>
          </a:p>
          <a:p>
            <a:r>
              <a:rPr lang="en-US" b="1" dirty="0"/>
              <a:t>City Planner:</a:t>
            </a:r>
            <a:r>
              <a:rPr lang="en-US" dirty="0"/>
              <a:t> "We place ambulances based on historical data, not real-time risk."</a:t>
            </a:r>
          </a:p>
          <a:p>
            <a:r>
              <a:rPr lang="en-US" b="1" dirty="0"/>
              <a:t>Insurer:</a:t>
            </a:r>
            <a:r>
              <a:rPr lang="en-US" dirty="0"/>
              <a:t> "We have no objective data to reward safe drivers or verify claims."</a:t>
            </a:r>
          </a:p>
          <a:p>
            <a:pPr algn="l" fontAlgn="base"/>
            <a:endParaRPr lang="en-US" sz="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BC19D9-F468-EBF7-FDEA-4B741ED2AB1F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4" name="Picture 3" descr="A close-up of a logo&#10;&#10;AI-generated content may be incorrect.">
              <a:extLst>
                <a:ext uri="{FF2B5EF4-FFF2-40B4-BE49-F238E27FC236}">
                  <a16:creationId xmlns:a16="http://schemas.microsoft.com/office/drawing/2014/main" id="{B29494CA-7D22-C49C-DFC1-50B06EC78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6" name="Picture 5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D3769958-9A69-2E96-0E5C-4B5A164DE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461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2DB204-0904-470C-9F49-AB78D953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BBADD3-BEF9-81A9-8766-83D00ED74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52" y="1473523"/>
            <a:ext cx="10516736" cy="4773075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SOLUTION</a:t>
            </a:r>
            <a:endParaRPr lang="en-US" b="1" dirty="0"/>
          </a:p>
          <a:p>
            <a:endParaRPr lang="en-US" dirty="0"/>
          </a:p>
          <a:p>
            <a:r>
              <a:rPr lang="en-US" dirty="0" err="1"/>
              <a:t>GuardianDrive</a:t>
            </a:r>
            <a:r>
              <a:rPr lang="en-US" dirty="0"/>
              <a:t> AI is a </a:t>
            </a:r>
            <a:r>
              <a:rPr lang="en-US" b="1" dirty="0"/>
              <a:t>permanently installed, AI-powered IoT device and safety platform</a:t>
            </a:r>
            <a:r>
              <a:rPr lang="en-US" dirty="0"/>
              <a:t> that transforms any vehicle into a connected safety node.</a:t>
            </a:r>
          </a:p>
          <a:p>
            <a:r>
              <a:rPr lang="en-US" b="1" dirty="0"/>
              <a:t>Innovative Elements &amp; Technology:</a:t>
            </a:r>
            <a:endParaRPr lang="en-US" dirty="0"/>
          </a:p>
          <a:p>
            <a:r>
              <a:rPr lang="en-US" b="1" dirty="0"/>
              <a:t>On-Device AI Fusion:</a:t>
            </a:r>
            <a:r>
              <a:rPr lang="en-US" dirty="0"/>
              <a:t> Uses an embedded AI chip to process </a:t>
            </a:r>
            <a:r>
              <a:rPr lang="en-US" b="1" dirty="0"/>
              <a:t>camera, microphone, and vehicle CAN-bus data</a:t>
            </a:r>
            <a:r>
              <a:rPr lang="en-US" dirty="0"/>
              <a:t> locally for real-time, privacy-centric analysis of driver state (drowsiness, distraction, impairment signs).</a:t>
            </a:r>
          </a:p>
          <a:p>
            <a:r>
              <a:rPr lang="en-US" b="1" dirty="0"/>
              <a:t>Predictive Risk Mapping:</a:t>
            </a:r>
            <a:r>
              <a:rPr lang="en-US" dirty="0"/>
              <a:t> Aggregates </a:t>
            </a:r>
            <a:r>
              <a:rPr lang="en-US" b="1" dirty="0"/>
              <a:t>anonymous, aggregated driving pattern data</a:t>
            </a:r>
            <a:r>
              <a:rPr lang="en-US" dirty="0"/>
              <a:t> to create dynamic "Micro-Risk Zone" heatmaps for cities.</a:t>
            </a:r>
          </a:p>
          <a:p>
            <a:r>
              <a:rPr lang="en-US" b="1" dirty="0"/>
              <a:t>Multi-Stakeholder Alert Ecosystem:</a:t>
            </a:r>
            <a:r>
              <a:rPr lang="en-US" dirty="0"/>
              <a:t> Instantly alerts </a:t>
            </a:r>
            <a:r>
              <a:rPr lang="en-US" b="1" dirty="0"/>
              <a:t>family</a:t>
            </a:r>
            <a:r>
              <a:rPr lang="en-US" dirty="0"/>
              <a:t> in case of potential danger, and can send verified incident data to </a:t>
            </a:r>
            <a:r>
              <a:rPr lang="en-US" b="1" dirty="0"/>
              <a:t>police and ambulance APIs</a:t>
            </a:r>
            <a:r>
              <a:rPr lang="en-US" dirty="0"/>
              <a:t> in severe cases.</a:t>
            </a:r>
          </a:p>
          <a:p>
            <a:r>
              <a:rPr lang="en-US" b="1" dirty="0"/>
              <a:t>Insurance Data Bridge:</a:t>
            </a:r>
            <a:r>
              <a:rPr lang="en-US" dirty="0"/>
              <a:t> Provides a secure API for insurers to access </a:t>
            </a:r>
            <a:r>
              <a:rPr lang="en-US" b="1" dirty="0"/>
              <a:t>verified, behavior-based data</a:t>
            </a:r>
            <a:r>
              <a:rPr lang="en-US" dirty="0"/>
              <a:t> for personalized premiums and instant claims processing.</a:t>
            </a:r>
          </a:p>
          <a:p>
            <a:r>
              <a:rPr lang="en-US" b="1" dirty="0"/>
              <a:t>How it solves the problem uniquely:</a:t>
            </a:r>
            <a:r>
              <a:rPr lang="en-US" dirty="0"/>
              <a:t> We don't just alert the driver; we </a:t>
            </a:r>
            <a:r>
              <a:rPr lang="en-US" b="1" dirty="0"/>
              <a:t>create a proactive safety net involving the driver's loved ones and the city's emergency infrastructure</a:t>
            </a:r>
            <a:r>
              <a:rPr lang="en-US" dirty="0"/>
              <a:t>, moving from individual reaction to community-wide prevention.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0F0091-9225-2347-DD5B-A825A1EFCF70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7" name="Picture 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4FC690F2-2EAC-B739-6B41-03AA6A896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8" name="Picture 7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8E764828-EF6C-7AF4-C5A4-5EC87A9BF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848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986E7B-4E40-A4A1-B431-8ECF2D09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2AB118-54E7-4E11-CAD7-BD6A565D9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845" y="1609327"/>
            <a:ext cx="10516736" cy="4773075"/>
          </a:xfrm>
        </p:spPr>
        <p:txBody>
          <a:bodyPr>
            <a:normAutofit/>
          </a:bodyPr>
          <a:lstStyle/>
          <a:p>
            <a:pPr algn="l" fontAlgn="base"/>
            <a:r>
              <a:rPr lang="en-IN" sz="3200" b="1" u="sng" dirty="0"/>
              <a:t>Unique Value Proposition</a:t>
            </a:r>
          </a:p>
          <a:p>
            <a:pPr algn="l" fontAlgn="base"/>
            <a:endParaRPr lang="en-IN" sz="3200" b="1" u="sng" dirty="0"/>
          </a:p>
          <a:p>
            <a:pPr algn="l" fontAlgn="base"/>
            <a:endParaRPr lang="en-IN" sz="3200" b="1" u="sng" dirty="0"/>
          </a:p>
          <a:p>
            <a:pPr algn="l" fontAlgn="base"/>
            <a:endParaRPr lang="en-US" sz="500" dirty="0"/>
          </a:p>
          <a:p>
            <a:pPr algn="l" fontAlgn="base"/>
            <a:endParaRPr lang="en-IN" sz="3000" b="1" u="sn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62CC64A-3087-D59C-73DF-BB162CEEC118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7" name="Picture 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1725C30E-9DB8-905D-1770-359F83E95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8" name="Picture 7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920FB90D-0628-8052-6455-DBB0E03E6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B74D00-CDEA-9148-89DE-E20D66D44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505320"/>
              </p:ext>
            </p:extLst>
          </p:nvPr>
        </p:nvGraphicFramePr>
        <p:xfrm>
          <a:off x="835164" y="2921387"/>
          <a:ext cx="10515600" cy="3810000"/>
        </p:xfrm>
        <a:graphic>
          <a:graphicData uri="http://schemas.openxmlformats.org/drawingml/2006/table">
            <a:tbl>
              <a:tblPr/>
              <a:tblGrid>
                <a:gridCol w="1908236">
                  <a:extLst>
                    <a:ext uri="{9D8B030D-6E8A-4147-A177-3AD203B41FA5}">
                      <a16:colId xmlns:a16="http://schemas.microsoft.com/office/drawing/2014/main" val="3554203741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2511262843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1300495773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1572943463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4043103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GuardianDrive AI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Dashcams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Telematics (OBD)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Basic Drowsiness Alerts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03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AI Impairment Detection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✅ Multi-sensor fusion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❌ Video only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✅ Basic camera only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168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Proactive Family Alerts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✅ Real-time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669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Ecosystem Integration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✅ Police, EMS, Insurers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4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Predictive City Data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✅ Creates risk maps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396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Insurance UBI Integration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✅ Deep behavioral data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✅ Basic driving data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93871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C1D36F9-2A1B-0F2D-5E74-C54897AB4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1567"/>
            <a:ext cx="10719062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For the Driver/Family: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"A guardian angel that watches over your loved ones on the road, giving you peace of mind."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For the Ecosystem (vs. Competition):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90182A3-93DA-08D7-E573-0D2E92653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44388"/>
            <a:ext cx="11218682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USP: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India's first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integrated, AI-driven road safety ecosystem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that monetizes safety data across consumers, enterprises, and governments.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60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836E98-5353-5496-5E37-98E7CF37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E8617D-87ED-F7F1-3172-5E649B074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845" y="1582165"/>
            <a:ext cx="10516736" cy="4773075"/>
          </a:xfrm>
        </p:spPr>
        <p:txBody>
          <a:bodyPr>
            <a:normAutofit fontScale="92500" lnSpcReduction="20000"/>
          </a:bodyPr>
          <a:lstStyle/>
          <a:p>
            <a:pPr algn="l" fontAlgn="base"/>
            <a:r>
              <a:rPr lang="en-US" sz="3200" b="1" u="sng" dirty="0"/>
              <a:t>Target Market</a:t>
            </a:r>
            <a:endParaRPr lang="en-US" sz="3200" dirty="0"/>
          </a:p>
          <a:p>
            <a:pPr algn="l" fontAlgn="base"/>
            <a:endParaRPr lang="en-US" sz="500" dirty="0"/>
          </a:p>
          <a:p>
            <a:r>
              <a:rPr lang="en-IN" b="1" dirty="0"/>
              <a:t>Primary Customers:</a:t>
            </a:r>
            <a:endParaRPr lang="en-IN" dirty="0"/>
          </a:p>
          <a:p>
            <a:r>
              <a:rPr lang="en-IN" b="1" dirty="0"/>
              <a:t>B2C:</a:t>
            </a:r>
            <a:r>
              <a:rPr lang="en-IN" dirty="0"/>
              <a:t> Safety-conscious families, owners of commercial vehicles (trucks, taxis).</a:t>
            </a:r>
          </a:p>
          <a:p>
            <a:r>
              <a:rPr lang="en-IN" b="1" dirty="0"/>
              <a:t>B2B:</a:t>
            </a:r>
            <a:r>
              <a:rPr lang="en-IN" dirty="0"/>
              <a:t> Fleet operators (logistics, e-commerce, corporate fleets).</a:t>
            </a:r>
          </a:p>
          <a:p>
            <a:r>
              <a:rPr lang="en-IN" b="1" dirty="0"/>
              <a:t>B2G:</a:t>
            </a:r>
            <a:r>
              <a:rPr lang="en-IN" dirty="0"/>
              <a:t> Municipal corporations, state transport departments.</a:t>
            </a:r>
          </a:p>
          <a:p>
            <a:r>
              <a:rPr lang="en-IN" b="1" dirty="0"/>
              <a:t>B2B2C:</a:t>
            </a:r>
            <a:r>
              <a:rPr lang="en-IN" dirty="0"/>
              <a:t> Insurance companies (as data partners).</a:t>
            </a:r>
          </a:p>
          <a:p>
            <a:r>
              <a:rPr lang="en-IN" b="1" dirty="0"/>
              <a:t>Market Size (India-Focused):</a:t>
            </a:r>
            <a:endParaRPr lang="en-IN" dirty="0"/>
          </a:p>
          <a:p>
            <a:r>
              <a:rPr lang="en-IN" b="1" dirty="0"/>
              <a:t>TAM:</a:t>
            </a:r>
            <a:r>
              <a:rPr lang="en-IN" dirty="0"/>
              <a:t> Indian Auto Aftermarket + Telematics: ~$15 Bn</a:t>
            </a:r>
          </a:p>
          <a:p>
            <a:r>
              <a:rPr lang="en-IN" b="1" dirty="0"/>
              <a:t>SAM:</a:t>
            </a:r>
            <a:r>
              <a:rPr lang="en-IN" dirty="0"/>
              <a:t> Connected Car &amp; Safety Solutions: ~$3 Bn</a:t>
            </a:r>
          </a:p>
          <a:p>
            <a:r>
              <a:rPr lang="en-IN" b="1" dirty="0"/>
              <a:t>SOM (Year 1-3):</a:t>
            </a:r>
            <a:r>
              <a:rPr lang="en-IN" dirty="0"/>
              <a:t> Targeting Fleet and Early Adopter Segment: ~$50 Mn</a:t>
            </a:r>
          </a:p>
          <a:p>
            <a:r>
              <a:rPr lang="en-IN" b="1" dirty="0"/>
              <a:t>Growth Trends:</a:t>
            </a:r>
            <a:r>
              <a:rPr lang="en-IN" dirty="0"/>
              <a:t> India's telematics market is growing at </a:t>
            </a:r>
            <a:r>
              <a:rPr lang="en-IN" b="1" dirty="0"/>
              <a:t>25%+ CAGR</a:t>
            </a:r>
            <a:r>
              <a:rPr lang="en-IN" dirty="0"/>
              <a:t>. Government push for road safety (Bharat NCAP) and insurance regulatory push for telematics-based insurance create a perfect storm.</a:t>
            </a:r>
          </a:p>
          <a:p>
            <a:pPr algn="l" fontAlgn="base"/>
            <a:endParaRPr lang="en-US" sz="5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2C26CA-016F-4DCF-0306-D1C0AB8345DA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7" name="Picture 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B1423FF1-7581-6B03-8517-D53587E95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8" name="Picture 7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26F4D697-BBC1-037D-8116-DA387A611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709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89F824-CC3C-895A-EE7F-1543231A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014A85-EE12-7D61-315A-EE54E92D7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845" y="1491631"/>
            <a:ext cx="10516736" cy="4773075"/>
          </a:xfrm>
        </p:spPr>
        <p:txBody>
          <a:bodyPr>
            <a:normAutofit fontScale="92500" lnSpcReduction="10000"/>
          </a:bodyPr>
          <a:lstStyle/>
          <a:p>
            <a:pPr algn="l" fontAlgn="base"/>
            <a:r>
              <a:rPr lang="en-US" sz="3200" b="1" u="sng" dirty="0"/>
              <a:t>Business / Revenue Model </a:t>
            </a:r>
            <a:endParaRPr lang="en-US" sz="500" dirty="0"/>
          </a:p>
          <a:p>
            <a:r>
              <a:rPr lang="en-IN" b="1" dirty="0"/>
              <a:t>Multi-Stream Revenue Model:</a:t>
            </a:r>
            <a:endParaRPr lang="en-IN" dirty="0"/>
          </a:p>
          <a:p>
            <a:r>
              <a:rPr lang="en-IN" b="1" dirty="0"/>
              <a:t>Hardware Sales:</a:t>
            </a:r>
            <a:r>
              <a:rPr lang="en-IN" dirty="0"/>
              <a:t> Device sold at ~₹8,000-20,000 for fleets/early adopters.</a:t>
            </a:r>
          </a:p>
          <a:p>
            <a:r>
              <a:rPr lang="en-IN" b="1" dirty="0"/>
              <a:t>SaaS Subscription:</a:t>
            </a:r>
            <a:r>
              <a:rPr lang="en-IN" dirty="0"/>
              <a:t> ₹300-500/month per vehicle for cloud alerts, dashboard, and insights.</a:t>
            </a:r>
          </a:p>
          <a:p>
            <a:r>
              <a:rPr lang="en-IN" b="1" dirty="0"/>
              <a:t>Data Licensing &amp; API Fees:</a:t>
            </a:r>
            <a:endParaRPr lang="en-IN" dirty="0"/>
          </a:p>
          <a:p>
            <a:pPr lvl="1"/>
            <a:r>
              <a:rPr lang="en-IN" dirty="0"/>
              <a:t>Insurance API access: Cost per-vehicle-per-month + percentage of saved claims.</a:t>
            </a:r>
          </a:p>
          <a:p>
            <a:pPr lvl="1"/>
            <a:r>
              <a:rPr lang="en-IN" dirty="0"/>
              <a:t>Municipal Data Platform: Annual subscription (~₹10-50 Lakhs/city based on population).</a:t>
            </a:r>
          </a:p>
          <a:p>
            <a:r>
              <a:rPr lang="en-IN" b="1" dirty="0"/>
              <a:t>OEM Licensing:</a:t>
            </a:r>
            <a:r>
              <a:rPr lang="en-IN" dirty="0"/>
              <a:t> Royalty per vehicle for embedded software (long-term goal).</a:t>
            </a:r>
          </a:p>
          <a:p>
            <a:r>
              <a:rPr lang="en-IN" b="1" dirty="0"/>
              <a:t>Pricing Strategy:</a:t>
            </a:r>
            <a:r>
              <a:rPr lang="en-IN" dirty="0"/>
              <a:t> Freemium for basic alerts, subscription for ecosystem features. Volume discounts for fleets.</a:t>
            </a:r>
          </a:p>
          <a:p>
            <a:r>
              <a:rPr lang="en-IN" b="1" dirty="0"/>
              <a:t>Scalability:</a:t>
            </a:r>
            <a:r>
              <a:rPr lang="en-IN" dirty="0"/>
              <a:t> Cloud-native platform. Edge device design allows for mass production. Model improves with more data (network effects).</a:t>
            </a:r>
          </a:p>
          <a:p>
            <a:pPr algn="l" fontAlgn="base"/>
            <a:endParaRPr lang="en-US" sz="3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C56D4C-DB40-5E7B-0F5F-469CE97FDEFF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7" name="Picture 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B0E6C301-1803-BB9F-9A60-814460CD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8" name="Picture 7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48D4C325-EDF1-F953-95C1-0A3F9283B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717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FDE595-9A30-123C-C937-7F6F6F06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7FAA579-CA4B-B91E-B9D7-5BD11A59C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684" y="1509738"/>
            <a:ext cx="10516736" cy="4773075"/>
          </a:xfrm>
        </p:spPr>
        <p:txBody>
          <a:bodyPr>
            <a:normAutofit fontScale="85000" lnSpcReduction="20000"/>
          </a:bodyPr>
          <a:lstStyle/>
          <a:p>
            <a:pPr algn="l" fontAlgn="base"/>
            <a:r>
              <a:rPr lang="en-US" sz="3200" b="1" u="sng" dirty="0"/>
              <a:t>About Team</a:t>
            </a:r>
            <a:endParaRPr lang="en-US" sz="500" b="1" u="sng" dirty="0"/>
          </a:p>
          <a:p>
            <a:r>
              <a:rPr lang="en-US" b="1" dirty="0"/>
              <a:t>Siddhant Satish Dhivare </a:t>
            </a:r>
          </a:p>
          <a:p>
            <a:r>
              <a:rPr lang="en-US" b="1" dirty="0"/>
              <a:t>Team Structure to be Built:</a:t>
            </a:r>
            <a:endParaRPr lang="en-US" dirty="0"/>
          </a:p>
          <a:p>
            <a:r>
              <a:rPr lang="en-US" dirty="0"/>
              <a:t>Seeking to recruit a </a:t>
            </a:r>
            <a:r>
              <a:rPr lang="en-US" b="1" dirty="0"/>
              <a:t>Co-founder (CTO)</a:t>
            </a:r>
            <a:r>
              <a:rPr lang="en-US" dirty="0"/>
              <a:t> with deep expertise in AI/ML model optimization for edge devices.</a:t>
            </a:r>
          </a:p>
          <a:p>
            <a:r>
              <a:rPr lang="en-US" dirty="0"/>
              <a:t>Seeking to recruit a </a:t>
            </a:r>
            <a:r>
              <a:rPr lang="en-US" b="1" dirty="0"/>
              <a:t>Hardware Lead</a:t>
            </a:r>
            <a:r>
              <a:rPr lang="en-US" dirty="0"/>
              <a:t> with experience in automotive-grade electronics and manufacturing.</a:t>
            </a:r>
          </a:p>
          <a:p>
            <a:r>
              <a:rPr lang="en-US" dirty="0"/>
              <a:t>Plan to hire 2-3 ML engineers and embedded developers post-incubation.</a:t>
            </a:r>
          </a:p>
          <a:p>
            <a:r>
              <a:rPr lang="en-US" b="1" dirty="0"/>
              <a:t>We are actively looking for complementary co-founders and early team members through the AIC IIT Delhi network.</a:t>
            </a:r>
            <a:endParaRPr lang="en-US" dirty="0"/>
          </a:p>
          <a:p>
            <a:r>
              <a:rPr lang="en-US" b="1" dirty="0"/>
              <a:t>Contact Details of Founder:</a:t>
            </a:r>
            <a:endParaRPr lang="en-US" dirty="0"/>
          </a:p>
          <a:p>
            <a:r>
              <a:rPr lang="en-US" b="1" dirty="0"/>
              <a:t>Name:</a:t>
            </a:r>
            <a:r>
              <a:rPr lang="en-US" dirty="0"/>
              <a:t> Siddhant Dhivare</a:t>
            </a:r>
          </a:p>
          <a:p>
            <a:r>
              <a:rPr lang="en-US" b="1" dirty="0"/>
              <a:t>Contact Number:</a:t>
            </a:r>
            <a:r>
              <a:rPr lang="en-US" dirty="0"/>
              <a:t> +91 9158793589</a:t>
            </a:r>
          </a:p>
          <a:p>
            <a:r>
              <a:rPr lang="en-US" b="1" dirty="0"/>
              <a:t>Email:</a:t>
            </a:r>
            <a:r>
              <a:rPr lang="en-US" dirty="0"/>
              <a:t> siddhantdhivare98@gmail.com</a:t>
            </a:r>
          </a:p>
          <a:p>
            <a:pPr algn="l" fontAlgn="base"/>
            <a:endParaRPr lang="en-US" sz="3200" b="1" u="sn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6DB00F-EA61-8BC1-F52B-9C4140795424}"/>
              </a:ext>
            </a:extLst>
          </p:cNvPr>
          <p:cNvGrpSpPr/>
          <p:nvPr/>
        </p:nvGrpSpPr>
        <p:grpSpPr>
          <a:xfrm>
            <a:off x="919457" y="259182"/>
            <a:ext cx="10810394" cy="784860"/>
            <a:chOff x="919457" y="259182"/>
            <a:chExt cx="10810394" cy="784860"/>
          </a:xfrm>
        </p:grpSpPr>
        <p:pic>
          <p:nvPicPr>
            <p:cNvPr id="7" name="Picture 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BE6DDB7A-6469-19C0-A624-2EC759B4A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457" y="259182"/>
              <a:ext cx="2140527" cy="784860"/>
            </a:xfrm>
            <a:prstGeom prst="rect">
              <a:avLst/>
            </a:prstGeom>
          </p:spPr>
        </p:pic>
        <p:pic>
          <p:nvPicPr>
            <p:cNvPr id="8" name="Picture 7" descr="A red text on a white background&#10;&#10;AI-generated content may be incorrect.">
              <a:extLst>
                <a:ext uri="{FF2B5EF4-FFF2-40B4-BE49-F238E27FC236}">
                  <a16:creationId xmlns:a16="http://schemas.microsoft.com/office/drawing/2014/main" id="{052EE3D3-D884-C120-6839-D5123D514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9375" y="259182"/>
              <a:ext cx="2830476" cy="78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52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848</Words>
  <Application>Microsoft Office PowerPoint</Application>
  <PresentationFormat>Widescreen</PresentationFormat>
  <Paragraphs>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Pandey</dc:creator>
  <cp:lastModifiedBy>DHIVARE SIDDHANT SATISH</cp:lastModifiedBy>
  <cp:revision>27</cp:revision>
  <dcterms:created xsi:type="dcterms:W3CDTF">2025-09-17T05:35:21Z</dcterms:created>
  <dcterms:modified xsi:type="dcterms:W3CDTF">2026-01-09T06:59:20Z</dcterms:modified>
</cp:coreProperties>
</file>